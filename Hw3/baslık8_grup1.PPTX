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62" r:id="rId5"/>
    <p:sldId id="263" r:id="rId6"/>
    <p:sldId id="260" r:id="rId7"/>
    <p:sldId id="261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8360898-5FF0-441B-98CE-718517D10C4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5365B787-E979-4F0A-8825-CC2585053A8C}">
      <dgm:prSet/>
      <dgm:spPr/>
      <dgm:t>
        <a:bodyPr/>
        <a:lstStyle/>
        <a:p>
          <a:r>
            <a:rPr lang="tr-TR"/>
            <a:t>Hamza YOĞURTCUOĞLU – 171044086</a:t>
          </a:r>
          <a:endParaRPr lang="en-US"/>
        </a:p>
      </dgm:t>
    </dgm:pt>
    <dgm:pt modelId="{BE95AC8D-C9E2-4A33-82C2-F900E5459E0E}" type="parTrans" cxnId="{33E31C3C-11F0-4398-8EF2-3EADA104DE15}">
      <dgm:prSet/>
      <dgm:spPr/>
      <dgm:t>
        <a:bodyPr/>
        <a:lstStyle/>
        <a:p>
          <a:endParaRPr lang="en-US"/>
        </a:p>
      </dgm:t>
    </dgm:pt>
    <dgm:pt modelId="{02BB17E2-FAA4-4E4B-B33B-0292609D3A72}" type="sibTrans" cxnId="{33E31C3C-11F0-4398-8EF2-3EADA104DE15}">
      <dgm:prSet/>
      <dgm:spPr/>
      <dgm:t>
        <a:bodyPr/>
        <a:lstStyle/>
        <a:p>
          <a:endParaRPr lang="en-US"/>
        </a:p>
      </dgm:t>
    </dgm:pt>
    <dgm:pt modelId="{7176CE86-FE17-4405-8631-CBE7320990A7}">
      <dgm:prSet/>
      <dgm:spPr/>
      <dgm:t>
        <a:bodyPr/>
        <a:lstStyle/>
        <a:p>
          <a:r>
            <a:rPr lang="tr-TR" dirty="0"/>
            <a:t>Osman AKKUŞ – 151044055</a:t>
          </a:r>
          <a:endParaRPr lang="en-US" dirty="0"/>
        </a:p>
      </dgm:t>
    </dgm:pt>
    <dgm:pt modelId="{A02F6BE7-9960-43E8-B878-CC76279D9DA7}" type="parTrans" cxnId="{47BEFAE8-2388-4E1E-82EC-0EBD2582BA0C}">
      <dgm:prSet/>
      <dgm:spPr/>
      <dgm:t>
        <a:bodyPr/>
        <a:lstStyle/>
        <a:p>
          <a:endParaRPr lang="en-US"/>
        </a:p>
      </dgm:t>
    </dgm:pt>
    <dgm:pt modelId="{3D929B69-97F0-45C5-8EC1-8031CC4C7756}" type="sibTrans" cxnId="{47BEFAE8-2388-4E1E-82EC-0EBD2582BA0C}">
      <dgm:prSet/>
      <dgm:spPr/>
      <dgm:t>
        <a:bodyPr/>
        <a:lstStyle/>
        <a:p>
          <a:endParaRPr lang="en-US"/>
        </a:p>
      </dgm:t>
    </dgm:pt>
    <dgm:pt modelId="{D417BEF9-CBCB-4F66-BF07-CFB394A91612}">
      <dgm:prSet/>
      <dgm:spPr/>
      <dgm:t>
        <a:bodyPr/>
        <a:lstStyle/>
        <a:p>
          <a:r>
            <a:rPr lang="tr-TR" dirty="0"/>
            <a:t>Ahmet Yuşa TELLİ – 151044092</a:t>
          </a:r>
          <a:endParaRPr lang="en-US" dirty="0"/>
        </a:p>
      </dgm:t>
    </dgm:pt>
    <dgm:pt modelId="{BDD9E7B2-345D-4B53-B38D-AD3CEFC4355A}" type="parTrans" cxnId="{B250CBD5-4AE9-49F0-9831-D1033CEEFA8F}">
      <dgm:prSet/>
      <dgm:spPr/>
      <dgm:t>
        <a:bodyPr/>
        <a:lstStyle/>
        <a:p>
          <a:endParaRPr lang="en-US"/>
        </a:p>
      </dgm:t>
    </dgm:pt>
    <dgm:pt modelId="{C2F630B3-A703-426E-816E-CB88264CD433}" type="sibTrans" cxnId="{B250CBD5-4AE9-49F0-9831-D1033CEEFA8F}">
      <dgm:prSet/>
      <dgm:spPr/>
      <dgm:t>
        <a:bodyPr/>
        <a:lstStyle/>
        <a:p>
          <a:endParaRPr lang="en-US"/>
        </a:p>
      </dgm:t>
    </dgm:pt>
    <dgm:pt modelId="{769436FF-4EB7-4CF0-B003-25B8821D7EB3}" type="pres">
      <dgm:prSet presAssocID="{08360898-5FF0-441B-98CE-718517D10C42}" presName="root" presStyleCnt="0">
        <dgm:presLayoutVars>
          <dgm:dir/>
          <dgm:resizeHandles val="exact"/>
        </dgm:presLayoutVars>
      </dgm:prSet>
      <dgm:spPr/>
    </dgm:pt>
    <dgm:pt modelId="{7757AD11-F86C-4C9B-8311-BC38327E1F15}" type="pres">
      <dgm:prSet presAssocID="{5365B787-E979-4F0A-8825-CC2585053A8C}" presName="compNode" presStyleCnt="0"/>
      <dgm:spPr/>
    </dgm:pt>
    <dgm:pt modelId="{28F04356-706D-4CBA-9110-55EACDFEBB1F}" type="pres">
      <dgm:prSet presAssocID="{5365B787-E979-4F0A-8825-CC2585053A8C}" presName="bgRect" presStyleLbl="bgShp" presStyleIdx="0" presStyleCnt="3"/>
      <dgm:spPr/>
    </dgm:pt>
    <dgm:pt modelId="{D3239D29-C0BA-4189-B7F7-B13D89ABC99C}" type="pres">
      <dgm:prSet presAssocID="{5365B787-E979-4F0A-8825-CC2585053A8C}" presName="iconRect" presStyleLbl="node1" presStyleIdx="0" presStyleCnt="3"/>
      <dgm:spPr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eleton"/>
        </a:ext>
      </dgm:extLst>
    </dgm:pt>
    <dgm:pt modelId="{EA92F4AD-039F-4748-AAC5-BD17A5E5DE05}" type="pres">
      <dgm:prSet presAssocID="{5365B787-E979-4F0A-8825-CC2585053A8C}" presName="spaceRect" presStyleCnt="0"/>
      <dgm:spPr/>
    </dgm:pt>
    <dgm:pt modelId="{54FB9093-7629-47BA-9DE5-41FF5762BAAE}" type="pres">
      <dgm:prSet presAssocID="{5365B787-E979-4F0A-8825-CC2585053A8C}" presName="parTx" presStyleLbl="revTx" presStyleIdx="0" presStyleCnt="3">
        <dgm:presLayoutVars>
          <dgm:chMax val="0"/>
          <dgm:chPref val="0"/>
        </dgm:presLayoutVars>
      </dgm:prSet>
      <dgm:spPr/>
    </dgm:pt>
    <dgm:pt modelId="{5C099772-707B-430F-8F86-EE6A20BF2444}" type="pres">
      <dgm:prSet presAssocID="{02BB17E2-FAA4-4E4B-B33B-0292609D3A72}" presName="sibTrans" presStyleCnt="0"/>
      <dgm:spPr/>
    </dgm:pt>
    <dgm:pt modelId="{D8CF6B5A-5D0A-4702-BF2B-17A814301FE0}" type="pres">
      <dgm:prSet presAssocID="{7176CE86-FE17-4405-8631-CBE7320990A7}" presName="compNode" presStyleCnt="0"/>
      <dgm:spPr/>
    </dgm:pt>
    <dgm:pt modelId="{EB15CC5D-DC9E-4DB1-B148-709E2B63FE12}" type="pres">
      <dgm:prSet presAssocID="{7176CE86-FE17-4405-8631-CBE7320990A7}" presName="bgRect" presStyleLbl="bgShp" presStyleIdx="1" presStyleCnt="3"/>
      <dgm:spPr/>
    </dgm:pt>
    <dgm:pt modelId="{32555205-5133-42CF-A6A5-145B1386A2DC}" type="pres">
      <dgm:prSet presAssocID="{7176CE86-FE17-4405-8631-CBE7320990A7}" presName="iconRect" presStyleLbl="node1" presStyleIdx="1" presStyleCnt="3"/>
      <dgm:spPr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lue"/>
        </a:ext>
      </dgm:extLst>
    </dgm:pt>
    <dgm:pt modelId="{30AF7FCD-8DB4-4795-8B5D-7E14B77E2549}" type="pres">
      <dgm:prSet presAssocID="{7176CE86-FE17-4405-8631-CBE7320990A7}" presName="spaceRect" presStyleCnt="0"/>
      <dgm:spPr/>
    </dgm:pt>
    <dgm:pt modelId="{7A2235C2-CA3B-4360-A1BB-E4395455872F}" type="pres">
      <dgm:prSet presAssocID="{7176CE86-FE17-4405-8631-CBE7320990A7}" presName="parTx" presStyleLbl="revTx" presStyleIdx="1" presStyleCnt="3">
        <dgm:presLayoutVars>
          <dgm:chMax val="0"/>
          <dgm:chPref val="0"/>
        </dgm:presLayoutVars>
      </dgm:prSet>
      <dgm:spPr/>
    </dgm:pt>
    <dgm:pt modelId="{382C00C1-DFD1-4214-9064-F351DB6C87B2}" type="pres">
      <dgm:prSet presAssocID="{3D929B69-97F0-45C5-8EC1-8031CC4C7756}" presName="sibTrans" presStyleCnt="0"/>
      <dgm:spPr/>
    </dgm:pt>
    <dgm:pt modelId="{D96E0018-435C-4CDB-BA6D-F1DE80122699}" type="pres">
      <dgm:prSet presAssocID="{D417BEF9-CBCB-4F66-BF07-CFB394A91612}" presName="compNode" presStyleCnt="0"/>
      <dgm:spPr/>
    </dgm:pt>
    <dgm:pt modelId="{4A54ACDA-79BE-4E83-BCA9-BA27AF753B9D}" type="pres">
      <dgm:prSet presAssocID="{D417BEF9-CBCB-4F66-BF07-CFB394A91612}" presName="bgRect" presStyleLbl="bgShp" presStyleIdx="2" presStyleCnt="3"/>
      <dgm:spPr/>
    </dgm:pt>
    <dgm:pt modelId="{FA38D1EF-2C76-40A3-A4A1-B5A02111201C}" type="pres">
      <dgm:prSet presAssocID="{D417BEF9-CBCB-4F66-BF07-CFB394A91612}" presName="iconRect" presStyleLbl="node1" presStyleIdx="2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4BDEBE10-A63D-45C1-9E37-84538268DAB6}" type="pres">
      <dgm:prSet presAssocID="{D417BEF9-CBCB-4F66-BF07-CFB394A91612}" presName="spaceRect" presStyleCnt="0"/>
      <dgm:spPr/>
    </dgm:pt>
    <dgm:pt modelId="{C351062A-CF31-4249-9A13-B19DA4E96E2A}" type="pres">
      <dgm:prSet presAssocID="{D417BEF9-CBCB-4F66-BF07-CFB394A9161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D7B80E1C-EC8F-4AE4-9329-15EC0307E06F}" type="presOf" srcId="{7176CE86-FE17-4405-8631-CBE7320990A7}" destId="{7A2235C2-CA3B-4360-A1BB-E4395455872F}" srcOrd="0" destOrd="0" presId="urn:microsoft.com/office/officeart/2018/2/layout/IconVerticalSolidList"/>
    <dgm:cxn modelId="{33E31C3C-11F0-4398-8EF2-3EADA104DE15}" srcId="{08360898-5FF0-441B-98CE-718517D10C42}" destId="{5365B787-E979-4F0A-8825-CC2585053A8C}" srcOrd="0" destOrd="0" parTransId="{BE95AC8D-C9E2-4A33-82C2-F900E5459E0E}" sibTransId="{02BB17E2-FAA4-4E4B-B33B-0292609D3A72}"/>
    <dgm:cxn modelId="{7ABE0E63-1E2A-414F-86C1-37B569052A0B}" type="presOf" srcId="{D417BEF9-CBCB-4F66-BF07-CFB394A91612}" destId="{C351062A-CF31-4249-9A13-B19DA4E96E2A}" srcOrd="0" destOrd="0" presId="urn:microsoft.com/office/officeart/2018/2/layout/IconVerticalSolidList"/>
    <dgm:cxn modelId="{584C1373-E4CD-420E-B40A-00757A9E3D22}" type="presOf" srcId="{5365B787-E979-4F0A-8825-CC2585053A8C}" destId="{54FB9093-7629-47BA-9DE5-41FF5762BAAE}" srcOrd="0" destOrd="0" presId="urn:microsoft.com/office/officeart/2018/2/layout/IconVerticalSolidList"/>
    <dgm:cxn modelId="{A5D16BA5-4E32-43BC-A7D6-12D73CB893A5}" type="presOf" srcId="{08360898-5FF0-441B-98CE-718517D10C42}" destId="{769436FF-4EB7-4CF0-B003-25B8821D7EB3}" srcOrd="0" destOrd="0" presId="urn:microsoft.com/office/officeart/2018/2/layout/IconVerticalSolidList"/>
    <dgm:cxn modelId="{B250CBD5-4AE9-49F0-9831-D1033CEEFA8F}" srcId="{08360898-5FF0-441B-98CE-718517D10C42}" destId="{D417BEF9-CBCB-4F66-BF07-CFB394A91612}" srcOrd="2" destOrd="0" parTransId="{BDD9E7B2-345D-4B53-B38D-AD3CEFC4355A}" sibTransId="{C2F630B3-A703-426E-816E-CB88264CD433}"/>
    <dgm:cxn modelId="{47BEFAE8-2388-4E1E-82EC-0EBD2582BA0C}" srcId="{08360898-5FF0-441B-98CE-718517D10C42}" destId="{7176CE86-FE17-4405-8631-CBE7320990A7}" srcOrd="1" destOrd="0" parTransId="{A02F6BE7-9960-43E8-B878-CC76279D9DA7}" sibTransId="{3D929B69-97F0-45C5-8EC1-8031CC4C7756}"/>
    <dgm:cxn modelId="{7AD9199A-5BB9-4FA0-B27A-0D5BA2D5AA98}" type="presParOf" srcId="{769436FF-4EB7-4CF0-B003-25B8821D7EB3}" destId="{7757AD11-F86C-4C9B-8311-BC38327E1F15}" srcOrd="0" destOrd="0" presId="urn:microsoft.com/office/officeart/2018/2/layout/IconVerticalSolidList"/>
    <dgm:cxn modelId="{E38FB1CC-D708-4618-955B-3D61F9FBAE0E}" type="presParOf" srcId="{7757AD11-F86C-4C9B-8311-BC38327E1F15}" destId="{28F04356-706D-4CBA-9110-55EACDFEBB1F}" srcOrd="0" destOrd="0" presId="urn:microsoft.com/office/officeart/2018/2/layout/IconVerticalSolidList"/>
    <dgm:cxn modelId="{001F5C9F-1443-47CE-82A0-7640EE013FEC}" type="presParOf" srcId="{7757AD11-F86C-4C9B-8311-BC38327E1F15}" destId="{D3239D29-C0BA-4189-B7F7-B13D89ABC99C}" srcOrd="1" destOrd="0" presId="urn:microsoft.com/office/officeart/2018/2/layout/IconVerticalSolidList"/>
    <dgm:cxn modelId="{AC19489D-450C-460C-855C-E027258A0D24}" type="presParOf" srcId="{7757AD11-F86C-4C9B-8311-BC38327E1F15}" destId="{EA92F4AD-039F-4748-AAC5-BD17A5E5DE05}" srcOrd="2" destOrd="0" presId="urn:microsoft.com/office/officeart/2018/2/layout/IconVerticalSolidList"/>
    <dgm:cxn modelId="{7AE2D16F-1636-49DE-9A1A-2C2B8F5CEAA0}" type="presParOf" srcId="{7757AD11-F86C-4C9B-8311-BC38327E1F15}" destId="{54FB9093-7629-47BA-9DE5-41FF5762BAAE}" srcOrd="3" destOrd="0" presId="urn:microsoft.com/office/officeart/2018/2/layout/IconVerticalSolidList"/>
    <dgm:cxn modelId="{5845FF3C-F51F-4D6D-8335-16ED09FE818C}" type="presParOf" srcId="{769436FF-4EB7-4CF0-B003-25B8821D7EB3}" destId="{5C099772-707B-430F-8F86-EE6A20BF2444}" srcOrd="1" destOrd="0" presId="urn:microsoft.com/office/officeart/2018/2/layout/IconVerticalSolidList"/>
    <dgm:cxn modelId="{28033ADD-E0F0-4CCC-BB48-4C8A3C5718EC}" type="presParOf" srcId="{769436FF-4EB7-4CF0-B003-25B8821D7EB3}" destId="{D8CF6B5A-5D0A-4702-BF2B-17A814301FE0}" srcOrd="2" destOrd="0" presId="urn:microsoft.com/office/officeart/2018/2/layout/IconVerticalSolidList"/>
    <dgm:cxn modelId="{33DDC4B8-415E-4B49-A0DC-6B7A811FEF43}" type="presParOf" srcId="{D8CF6B5A-5D0A-4702-BF2B-17A814301FE0}" destId="{EB15CC5D-DC9E-4DB1-B148-709E2B63FE12}" srcOrd="0" destOrd="0" presId="urn:microsoft.com/office/officeart/2018/2/layout/IconVerticalSolidList"/>
    <dgm:cxn modelId="{D7830ADD-6D36-486F-861F-180690848AFE}" type="presParOf" srcId="{D8CF6B5A-5D0A-4702-BF2B-17A814301FE0}" destId="{32555205-5133-42CF-A6A5-145B1386A2DC}" srcOrd="1" destOrd="0" presId="urn:microsoft.com/office/officeart/2018/2/layout/IconVerticalSolidList"/>
    <dgm:cxn modelId="{A09D990E-4C6E-4BF4-9D82-17BAD29FC955}" type="presParOf" srcId="{D8CF6B5A-5D0A-4702-BF2B-17A814301FE0}" destId="{30AF7FCD-8DB4-4795-8B5D-7E14B77E2549}" srcOrd="2" destOrd="0" presId="urn:microsoft.com/office/officeart/2018/2/layout/IconVerticalSolidList"/>
    <dgm:cxn modelId="{E80D27D9-9287-42E0-A8A4-018FB88336C1}" type="presParOf" srcId="{D8CF6B5A-5D0A-4702-BF2B-17A814301FE0}" destId="{7A2235C2-CA3B-4360-A1BB-E4395455872F}" srcOrd="3" destOrd="0" presId="urn:microsoft.com/office/officeart/2018/2/layout/IconVerticalSolidList"/>
    <dgm:cxn modelId="{E1828BF3-5243-44F8-9649-1C470BB802F5}" type="presParOf" srcId="{769436FF-4EB7-4CF0-B003-25B8821D7EB3}" destId="{382C00C1-DFD1-4214-9064-F351DB6C87B2}" srcOrd="3" destOrd="0" presId="urn:microsoft.com/office/officeart/2018/2/layout/IconVerticalSolidList"/>
    <dgm:cxn modelId="{B15F802F-F2E3-4C90-ABED-058753D58FD0}" type="presParOf" srcId="{769436FF-4EB7-4CF0-B003-25B8821D7EB3}" destId="{D96E0018-435C-4CDB-BA6D-F1DE80122699}" srcOrd="4" destOrd="0" presId="urn:microsoft.com/office/officeart/2018/2/layout/IconVerticalSolidList"/>
    <dgm:cxn modelId="{9F637D38-CA21-4226-BC55-B4756A6A2A53}" type="presParOf" srcId="{D96E0018-435C-4CDB-BA6D-F1DE80122699}" destId="{4A54ACDA-79BE-4E83-BCA9-BA27AF753B9D}" srcOrd="0" destOrd="0" presId="urn:microsoft.com/office/officeart/2018/2/layout/IconVerticalSolidList"/>
    <dgm:cxn modelId="{D646A4B7-A90D-4C92-80D6-092A686D3130}" type="presParOf" srcId="{D96E0018-435C-4CDB-BA6D-F1DE80122699}" destId="{FA38D1EF-2C76-40A3-A4A1-B5A02111201C}" srcOrd="1" destOrd="0" presId="urn:microsoft.com/office/officeart/2018/2/layout/IconVerticalSolidList"/>
    <dgm:cxn modelId="{A6C9A9B1-6485-4D68-A8E4-699C88371699}" type="presParOf" srcId="{D96E0018-435C-4CDB-BA6D-F1DE80122699}" destId="{4BDEBE10-A63D-45C1-9E37-84538268DAB6}" srcOrd="2" destOrd="0" presId="urn:microsoft.com/office/officeart/2018/2/layout/IconVerticalSolidList"/>
    <dgm:cxn modelId="{133614EC-5BA0-48B7-B72D-A01DC80E50B6}" type="presParOf" srcId="{D96E0018-435C-4CDB-BA6D-F1DE80122699}" destId="{C351062A-CF31-4249-9A13-B19DA4E96E2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F04356-706D-4CBA-9110-55EACDFEBB1F}">
      <dsp:nvSpPr>
        <dsp:cNvPr id="0" name=""/>
        <dsp:cNvSpPr/>
      </dsp:nvSpPr>
      <dsp:spPr>
        <a:xfrm>
          <a:off x="0" y="682"/>
          <a:ext cx="6572250" cy="15961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239D29-C0BA-4189-B7F7-B13D89ABC99C}">
      <dsp:nvSpPr>
        <dsp:cNvPr id="0" name=""/>
        <dsp:cNvSpPr/>
      </dsp:nvSpPr>
      <dsp:spPr>
        <a:xfrm>
          <a:off x="482844" y="359822"/>
          <a:ext cx="877899" cy="877899"/>
        </a:xfrm>
        <a:prstGeom prst="rect">
          <a:avLst/>
        </a:prstGeom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FB9093-7629-47BA-9DE5-41FF5762BAAE}">
      <dsp:nvSpPr>
        <dsp:cNvPr id="0" name=""/>
        <dsp:cNvSpPr/>
      </dsp:nvSpPr>
      <dsp:spPr>
        <a:xfrm>
          <a:off x="1843589" y="682"/>
          <a:ext cx="4728660" cy="1596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29" tIns="168929" rIns="168929" bIns="16892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500" kern="1200"/>
            <a:t>Hamza YOĞURTCUOĞLU – 171044086</a:t>
          </a:r>
          <a:endParaRPr lang="en-US" sz="2500" kern="1200"/>
        </a:p>
      </dsp:txBody>
      <dsp:txXfrm>
        <a:off x="1843589" y="682"/>
        <a:ext cx="4728660" cy="1596181"/>
      </dsp:txXfrm>
    </dsp:sp>
    <dsp:sp modelId="{EB15CC5D-DC9E-4DB1-B148-709E2B63FE12}">
      <dsp:nvSpPr>
        <dsp:cNvPr id="0" name=""/>
        <dsp:cNvSpPr/>
      </dsp:nvSpPr>
      <dsp:spPr>
        <a:xfrm>
          <a:off x="0" y="1995909"/>
          <a:ext cx="6572250" cy="15961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555205-5133-42CF-A6A5-145B1386A2DC}">
      <dsp:nvSpPr>
        <dsp:cNvPr id="0" name=""/>
        <dsp:cNvSpPr/>
      </dsp:nvSpPr>
      <dsp:spPr>
        <a:xfrm>
          <a:off x="482844" y="2355050"/>
          <a:ext cx="877899" cy="877899"/>
        </a:xfrm>
        <a:prstGeom prst="rect">
          <a:avLst/>
        </a:prstGeom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2235C2-CA3B-4360-A1BB-E4395455872F}">
      <dsp:nvSpPr>
        <dsp:cNvPr id="0" name=""/>
        <dsp:cNvSpPr/>
      </dsp:nvSpPr>
      <dsp:spPr>
        <a:xfrm>
          <a:off x="1843589" y="1995909"/>
          <a:ext cx="4728660" cy="1596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29" tIns="168929" rIns="168929" bIns="16892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500" kern="1200" dirty="0"/>
            <a:t>Osman AKKUŞ – 151044055</a:t>
          </a:r>
          <a:endParaRPr lang="en-US" sz="2500" kern="1200" dirty="0"/>
        </a:p>
      </dsp:txBody>
      <dsp:txXfrm>
        <a:off x="1843589" y="1995909"/>
        <a:ext cx="4728660" cy="1596181"/>
      </dsp:txXfrm>
    </dsp:sp>
    <dsp:sp modelId="{4A54ACDA-79BE-4E83-BCA9-BA27AF753B9D}">
      <dsp:nvSpPr>
        <dsp:cNvPr id="0" name=""/>
        <dsp:cNvSpPr/>
      </dsp:nvSpPr>
      <dsp:spPr>
        <a:xfrm>
          <a:off x="0" y="3991136"/>
          <a:ext cx="6572250" cy="15961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38D1EF-2C76-40A3-A4A1-B5A02111201C}">
      <dsp:nvSpPr>
        <dsp:cNvPr id="0" name=""/>
        <dsp:cNvSpPr/>
      </dsp:nvSpPr>
      <dsp:spPr>
        <a:xfrm>
          <a:off x="482844" y="4350277"/>
          <a:ext cx="877899" cy="87789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51062A-CF31-4249-9A13-B19DA4E96E2A}">
      <dsp:nvSpPr>
        <dsp:cNvPr id="0" name=""/>
        <dsp:cNvSpPr/>
      </dsp:nvSpPr>
      <dsp:spPr>
        <a:xfrm>
          <a:off x="1843589" y="3991136"/>
          <a:ext cx="4728660" cy="1596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29" tIns="168929" rIns="168929" bIns="16892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500" kern="1200" dirty="0"/>
            <a:t>Ahmet Yuşa TELLİ – 151044092</a:t>
          </a:r>
          <a:endParaRPr lang="en-US" sz="2500" kern="1200" dirty="0"/>
        </a:p>
      </dsp:txBody>
      <dsp:txXfrm>
        <a:off x="1843589" y="3991136"/>
        <a:ext cx="4728660" cy="15961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ECCC2-E398-48FD-BFCB-C61912212100}" type="datetimeFigureOut">
              <a:rPr lang="tr-TR" smtClean="0"/>
              <a:t>24.12.2019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DB454E2F-0CB3-443A-B9EE-6E730E64050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09277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ECCC2-E398-48FD-BFCB-C61912212100}" type="datetimeFigureOut">
              <a:rPr lang="tr-TR" smtClean="0"/>
              <a:t>24.12.2019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54E2F-0CB3-443A-B9EE-6E730E64050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86755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ACDECCC2-E398-48FD-BFCB-C61912212100}" type="datetimeFigureOut">
              <a:rPr lang="tr-TR" smtClean="0"/>
              <a:t>24.12.2019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tr-TR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DB454E2F-0CB3-443A-B9EE-6E730E64050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03056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ECCC2-E398-48FD-BFCB-C61912212100}" type="datetimeFigureOut">
              <a:rPr lang="tr-TR" smtClean="0"/>
              <a:t>24.12.2019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54E2F-0CB3-443A-B9EE-6E730E64050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2976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ECCC2-E398-48FD-BFCB-C61912212100}" type="datetimeFigureOut">
              <a:rPr lang="tr-TR" smtClean="0"/>
              <a:t>24.12.2019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54E2F-0CB3-443A-B9EE-6E730E64050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49655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ECCC2-E398-48FD-BFCB-C61912212100}" type="datetimeFigureOut">
              <a:rPr lang="tr-TR" smtClean="0"/>
              <a:t>24.12.2019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54E2F-0CB3-443A-B9EE-6E730E64050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84604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ECCC2-E398-48FD-BFCB-C61912212100}" type="datetimeFigureOut">
              <a:rPr lang="tr-TR" smtClean="0"/>
              <a:t>24.12.2019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54E2F-0CB3-443A-B9EE-6E730E64050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53991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ECCC2-E398-48FD-BFCB-C61912212100}" type="datetimeFigureOut">
              <a:rPr lang="tr-TR" smtClean="0"/>
              <a:t>24.12.2019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54E2F-0CB3-443A-B9EE-6E730E64050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98559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ECCC2-E398-48FD-BFCB-C61912212100}" type="datetimeFigureOut">
              <a:rPr lang="tr-TR" smtClean="0"/>
              <a:t>24.12.2019</a:t>
            </a:fld>
            <a:endParaRPr lang="tr-TR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54E2F-0CB3-443A-B9EE-6E730E64050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41795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ECCC2-E398-48FD-BFCB-C61912212100}" type="datetimeFigureOut">
              <a:rPr lang="tr-TR" smtClean="0"/>
              <a:t>24.12.2019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54E2F-0CB3-443A-B9EE-6E730E64050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3717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ECCC2-E398-48FD-BFCB-C61912212100}" type="datetimeFigureOut">
              <a:rPr lang="tr-TR" smtClean="0"/>
              <a:t>24.12.2019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54E2F-0CB3-443A-B9EE-6E730E64050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83375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ACDECCC2-E398-48FD-BFCB-C61912212100}" type="datetimeFigureOut">
              <a:rPr lang="tr-TR" smtClean="0"/>
              <a:t>24.12.2019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tr-TR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DB454E2F-0CB3-443A-B9EE-6E730E64050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50651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2.png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cplusplus.com/reference/condition_variable/condition_variable/" TargetMode="External"/><Relationship Id="rId5" Type="http://schemas.openxmlformats.org/officeDocument/2006/relationships/hyperlink" Target="https://thispointer.com/c11-multithreading-part-7-condition-variables-explained/" TargetMode="External"/><Relationship Id="rId4" Type="http://schemas.openxmlformats.org/officeDocument/2006/relationships/hyperlink" Target="https://isocpp.github.io/CppCoreGuidelines/CppCoreGuidelines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microsoft.com/office/2007/relationships/hdphoto" Target="../media/hdphoto2.wdp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2.png"/><Relationship Id="rId9" Type="http://schemas.microsoft.com/office/2007/relationships/diagramDrawing" Target="../diagrams/drawin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8C84B8E-16E8-4E54-B4AC-84CE51595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Unvan 1">
            <a:extLst>
              <a:ext uri="{FF2B5EF4-FFF2-40B4-BE49-F238E27FC236}">
                <a16:creationId xmlns:a16="http://schemas.microsoft.com/office/drawing/2014/main" id="{5F3C0BDA-9FC2-4D17-9286-146BDF4E6F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1560" y="1110054"/>
            <a:ext cx="6558608" cy="4580300"/>
          </a:xfrm>
        </p:spPr>
        <p:txBody>
          <a:bodyPr>
            <a:normAutofit/>
          </a:bodyPr>
          <a:lstStyle/>
          <a:p>
            <a:pPr algn="r"/>
            <a:r>
              <a:rPr lang="en-US" sz="8800"/>
              <a:t>Condition variables and using predicates</a:t>
            </a:r>
            <a:endParaRPr lang="tr-TR" sz="88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E9EEEA-5DB7-4DC7-AF9F-74D1C19B7E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928117"/>
            <a:ext cx="10351008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199147-B958-49C0-9BE2-65BDD892F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85470" y="1110053"/>
            <a:ext cx="3386371" cy="4580301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D3B95B93-82B7-4585-B1F2-F9DFFA7FF5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91947" y="1678210"/>
            <a:ext cx="2989007" cy="3443988"/>
          </a:xfrm>
        </p:spPr>
        <p:txBody>
          <a:bodyPr anchor="ctr">
            <a:normAutofit/>
          </a:bodyPr>
          <a:lstStyle/>
          <a:p>
            <a:r>
              <a:rPr lang="tr-TR" sz="2000">
                <a:solidFill>
                  <a:srgbClr val="000000"/>
                </a:solidFill>
              </a:rPr>
              <a:t>CSE 437 – REAL TIME SYSTEM ARCHITECTURES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70505D-EC2C-4D1A-86DE-2583778074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5780565"/>
            <a:ext cx="10351008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DF20BDF-18D7-4E94-9BA1-9CEB40470C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6920" y="5257800"/>
            <a:ext cx="1080904" cy="1080902"/>
            <a:chOff x="9646920" y="5257800"/>
            <a:chExt cx="1080904" cy="1080902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8F42242-4089-4E5D-95C3-C113C73DA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46920" y="5257800"/>
              <a:ext cx="1080904" cy="1080902"/>
            </a:xfrm>
            <a:prstGeom prst="ellipse">
              <a:avLst/>
            </a:prstGeom>
            <a:blipFill dpi="0" rotWithShape="1"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96F87F1-ABB5-42FB-86BD-EED111CD3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55011" y="5365890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15768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Unvan 1">
            <a:extLst>
              <a:ext uri="{FF2B5EF4-FFF2-40B4-BE49-F238E27FC236}">
                <a16:creationId xmlns:a16="http://schemas.microsoft.com/office/drawing/2014/main" id="{271A0C7E-E78F-463D-9B98-8E4D50CAC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en-US" dirty="0" err="1"/>
              <a:t>Condıtıon</a:t>
            </a:r>
            <a:r>
              <a:rPr lang="en-US" dirty="0"/>
              <a:t> </a:t>
            </a:r>
            <a:r>
              <a:rPr lang="en-US" dirty="0" err="1"/>
              <a:t>varıables</a:t>
            </a:r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C19B197-1784-44A9-A935-F5A80ED95C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320412"/>
            <a:ext cx="10058400" cy="3851787"/>
          </a:xfrm>
        </p:spPr>
        <p:txBody>
          <a:bodyPr>
            <a:normAutofit/>
          </a:bodyPr>
          <a:lstStyle/>
          <a:p>
            <a:r>
              <a:rPr lang="en-US" dirty="0"/>
              <a:t>A condition variable is an object able to block the calling thread until notified to resume.</a:t>
            </a:r>
            <a:endParaRPr lang="tr-TR" dirty="0"/>
          </a:p>
          <a:p>
            <a:endParaRPr lang="tr-TR" dirty="0"/>
          </a:p>
          <a:p>
            <a:r>
              <a:rPr lang="en-US" dirty="0"/>
              <a:t>But there might be some problems about the synchronization problem between the threads when they have woken up.</a:t>
            </a:r>
          </a:p>
          <a:p>
            <a:endParaRPr lang="en-US" dirty="0"/>
          </a:p>
          <a:p>
            <a:r>
              <a:rPr lang="en-US" dirty="0"/>
              <a:t>That’s why we need to use predicate lambda function to be aware of that.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2312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A548D01-86BC-4A04-9A19-23363A0A5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D53C06F-02C4-42B7-AAB4-056E8ECC69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2000"/>
            <a:ext cx="12192000" cy="2295831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>
            <a:extLst>
              <a:ext uri="{FF2B5EF4-FFF2-40B4-BE49-F238E27FC236}">
                <a16:creationId xmlns:a16="http://schemas.microsoft.com/office/drawing/2014/main" id="{74B2DE2F-3E42-4013-9AF6-9947941AE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002"/>
            <a:ext cx="10058400" cy="1522993"/>
          </a:xfrm>
        </p:spPr>
        <p:txBody>
          <a:bodyPr>
            <a:normAutofit/>
          </a:bodyPr>
          <a:lstStyle/>
          <a:p>
            <a:r>
              <a:rPr lang="tr-TR" sz="6000"/>
              <a:t>DON’T WAIT WITHOUT A CONDITION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8CDAEEB-82BE-4E37-9204-21CCCA3C8C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965199"/>
            <a:ext cx="4704419" cy="3488445"/>
          </a:xfrm>
        </p:spPr>
        <p:txBody>
          <a:bodyPr>
            <a:normAutofit/>
          </a:bodyPr>
          <a:lstStyle/>
          <a:p>
            <a:r>
              <a:rPr lang="en-US" sz="1800" dirty="0"/>
              <a:t>A wait without a condition can miss a wakeup or wake up simply to find that there is no work to do.</a:t>
            </a:r>
            <a:endParaRPr lang="tr-TR" sz="1800" dirty="0"/>
          </a:p>
          <a:p>
            <a:endParaRPr lang="tr-TR" sz="1800" dirty="0"/>
          </a:p>
          <a:p>
            <a:r>
              <a:rPr lang="en-US" sz="1800" dirty="0"/>
              <a:t>Condition variables can be victims of two very serious issues: lost wakeup and spurious wakeup.</a:t>
            </a:r>
            <a:endParaRPr lang="tr-TR" sz="1800" dirty="0"/>
          </a:p>
          <a:p>
            <a:endParaRPr lang="tr-TR" sz="1800" dirty="0"/>
          </a:p>
          <a:p>
            <a:endParaRPr lang="tr-TR" sz="1800" dirty="0"/>
          </a:p>
          <a:p>
            <a:endParaRPr lang="tr-TR" sz="1800" dirty="0"/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E8303D35-C8AA-46B1-946C-30344B0A3E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8762" y="1874141"/>
            <a:ext cx="4580293" cy="1500045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F0B2D325-F52B-42D3-B95B-0B567E1B21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64412BC-E554-4709-B783-CCD157054F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111AF4E-4C22-4675-8450-1A2447ECB0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</p:spTree>
    <p:extLst>
      <p:ext uri="{BB962C8B-B14F-4D97-AF65-F5344CB8AC3E}">
        <p14:creationId xmlns:p14="http://schemas.microsoft.com/office/powerpoint/2010/main" val="2493601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DCC0DCE3-8753-43BB-86D2-6452D91E4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28BC7A6-65CA-4655-8641-7BDE9699B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8755CF4-45A8-4971-A14E-D6DE02B48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421F62D5-850C-4310-A813-747E46433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CAD4B505-4A68-456B-9AFD-344192BE94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A7F9A339-5395-403B-B163-DFDDD9E099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4" name="Rectangle 63">
            <a:extLst>
              <a:ext uri="{FF2B5EF4-FFF2-40B4-BE49-F238E27FC236}">
                <a16:creationId xmlns:a16="http://schemas.microsoft.com/office/drawing/2014/main" id="{80E61E04-3F7C-42DE-ABE7-D3F7E349C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88952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B036F7E-6C8A-4549-99EF-9958C587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57366"/>
            <a:ext cx="12192000" cy="2610465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>
            <a:extLst>
              <a:ext uri="{FF2B5EF4-FFF2-40B4-BE49-F238E27FC236}">
                <a16:creationId xmlns:a16="http://schemas.microsoft.com/office/drawing/2014/main" id="{411E6FBF-6639-4A1E-87A9-E82A3D5BF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4355692"/>
            <a:ext cx="9085940" cy="147222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6600" kern="1200" cap="all" baseline="0" dirty="0">
                <a:blipFill dpi="0" rotWithShape="1">
                  <a:blip r:embed="rId4">
                    <a:extLst/>
                  </a:blip>
                  <a:srcRect/>
                  <a:tile tx="6350" ty="-127000" sx="65000" sy="64000" flip="none" algn="tl"/>
                </a:blipFill>
                <a:latin typeface="+mj-lt"/>
                <a:ea typeface="+mj-ea"/>
                <a:cs typeface="+mj-cs"/>
              </a:rPr>
              <a:t>Bad – good Examples</a:t>
            </a:r>
          </a:p>
        </p:txBody>
      </p:sp>
      <p:sp>
        <p:nvSpPr>
          <p:cNvPr id="20" name="Content Placeholder 9">
            <a:extLst>
              <a:ext uri="{FF2B5EF4-FFF2-40B4-BE49-F238E27FC236}">
                <a16:creationId xmlns:a16="http://schemas.microsoft.com/office/drawing/2014/main" id="{847BB8D4-E6AA-40B4-AAC7-2679146432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5827916"/>
            <a:ext cx="9052560" cy="44486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1900">
                <a:solidFill>
                  <a:srgbClr val="000000"/>
                </a:solidFill>
              </a:rPr>
              <a:t>If some other thread consumes thread1’s notification, thread2 can wait forever.</a:t>
            </a:r>
          </a:p>
        </p:txBody>
      </p:sp>
      <p:pic>
        <p:nvPicPr>
          <p:cNvPr id="6" name="İçerik Yer Tutucusu 5">
            <a:extLst>
              <a:ext uri="{FF2B5EF4-FFF2-40B4-BE49-F238E27FC236}">
                <a16:creationId xmlns:a16="http://schemas.microsoft.com/office/drawing/2014/main" id="{F50E0498-DAD5-4201-9F9D-8F0760847C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9971" y="0"/>
            <a:ext cx="4381326" cy="4227979"/>
          </a:xfrm>
          <a:prstGeom prst="rect">
            <a:avLst/>
          </a:prstGeom>
        </p:spPr>
      </p:pic>
      <p:grpSp>
        <p:nvGrpSpPr>
          <p:cNvPr id="68" name="Group 67">
            <a:extLst>
              <a:ext uri="{FF2B5EF4-FFF2-40B4-BE49-F238E27FC236}">
                <a16:creationId xmlns:a16="http://schemas.microsoft.com/office/drawing/2014/main" id="{75EE15D0-BDD3-4CA6-B5DC-159D83FA6B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45590" y="5111496"/>
            <a:ext cx="1080904" cy="1080902"/>
            <a:chOff x="9685338" y="4460675"/>
            <a:chExt cx="1080904" cy="1080902"/>
          </a:xfrm>
        </p:grpSpPr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C1D99473-F547-41EE-8D8B-3DFA6E58D0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71482930-66A8-46E9-8554-6D127FFCF1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93501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DCC0DCE3-8753-43BB-86D2-6452D91E4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8BC7A6-65CA-4655-8641-7BDE9699B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8755CF4-45A8-4971-A14E-D6DE02B48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21F62D5-850C-4310-A813-747E46433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CAD4B505-4A68-456B-9AFD-344192BE94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A7F9A339-5395-403B-B163-DFDDD9E099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80E61E04-3F7C-42DE-ABE7-D3F7E349C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88952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B036F7E-6C8A-4549-99EF-9958C587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57366"/>
            <a:ext cx="12192000" cy="2610465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>
            <a:extLst>
              <a:ext uri="{FF2B5EF4-FFF2-40B4-BE49-F238E27FC236}">
                <a16:creationId xmlns:a16="http://schemas.microsoft.com/office/drawing/2014/main" id="{411E6FBF-6639-4A1E-87A9-E82A3D5BF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4355692"/>
            <a:ext cx="9085940" cy="147222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6600" kern="1200" cap="all" baseline="0">
                <a:blipFill dpi="0" rotWithShape="1">
                  <a:blip r:embed="rId4">
                    <a:extLst/>
                  </a:blip>
                  <a:srcRect/>
                  <a:tile tx="6350" ty="-127000" sx="65000" sy="64000" flip="none" algn="tl"/>
                </a:blipFill>
                <a:latin typeface="+mj-lt"/>
                <a:ea typeface="+mj-ea"/>
                <a:cs typeface="+mj-cs"/>
              </a:rPr>
              <a:t>Bad – good Examples</a:t>
            </a:r>
          </a:p>
        </p:txBody>
      </p:sp>
      <p:sp>
        <p:nvSpPr>
          <p:cNvPr id="20" name="Content Placeholder 9">
            <a:extLst>
              <a:ext uri="{FF2B5EF4-FFF2-40B4-BE49-F238E27FC236}">
                <a16:creationId xmlns:a16="http://schemas.microsoft.com/office/drawing/2014/main" id="{847BB8D4-E6AA-40B4-AAC7-2679146432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5827916"/>
            <a:ext cx="9052560" cy="44486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1900">
                <a:solidFill>
                  <a:srgbClr val="000000"/>
                </a:solidFill>
              </a:rPr>
              <a:t>If some other thread consumes thread1’s notification, thread2 can wait forever.</a:t>
            </a:r>
          </a:p>
        </p:txBody>
      </p:sp>
      <p:pic>
        <p:nvPicPr>
          <p:cNvPr id="6" name="İçerik Yer Tutucusu 5">
            <a:extLst>
              <a:ext uri="{FF2B5EF4-FFF2-40B4-BE49-F238E27FC236}">
                <a16:creationId xmlns:a16="http://schemas.microsoft.com/office/drawing/2014/main" id="{F50E0498-DAD5-4201-9F9D-8F0760847C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2793" y="0"/>
            <a:ext cx="4381326" cy="4227979"/>
          </a:xfrm>
          <a:prstGeom prst="rect">
            <a:avLst/>
          </a:prstGeom>
        </p:spPr>
      </p:pic>
      <p:pic>
        <p:nvPicPr>
          <p:cNvPr id="9" name="İçerik Yer Tutucusu 3">
            <a:extLst>
              <a:ext uri="{FF2B5EF4-FFF2-40B4-BE49-F238E27FC236}">
                <a16:creationId xmlns:a16="http://schemas.microsoft.com/office/drawing/2014/main" id="{D33AF785-40C1-48F0-8D25-E60F37EC51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3283" y="9949"/>
            <a:ext cx="3427298" cy="4227978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75EE15D0-BDD3-4CA6-B5DC-159D83FA6B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45590" y="5111496"/>
            <a:ext cx="1080904" cy="1080902"/>
            <a:chOff x="9685338" y="4460675"/>
            <a:chExt cx="1080904" cy="1080902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C1D99473-F547-41EE-8D8B-3DFA6E58D0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71482930-66A8-46E9-8554-6D127FFCF1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41585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3AF35CD-DA30-4E34-B0F3-32C27766DA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6310" y="0"/>
            <a:ext cx="435568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>
            <a:extLst>
              <a:ext uri="{FF2B5EF4-FFF2-40B4-BE49-F238E27FC236}">
                <a16:creationId xmlns:a16="http://schemas.microsoft.com/office/drawing/2014/main" id="{8F1F9E69-A811-438B-94A9-9225795AA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6350" y="484632"/>
            <a:ext cx="3544035" cy="1609344"/>
          </a:xfrm>
          <a:ln>
            <a:noFill/>
          </a:ln>
        </p:spPr>
        <p:txBody>
          <a:bodyPr>
            <a:normAutofit/>
          </a:bodyPr>
          <a:lstStyle/>
          <a:p>
            <a:r>
              <a:rPr lang="tr-TR" sz="3200" dirty="0"/>
              <a:t>GOOD </a:t>
            </a:r>
            <a:r>
              <a:rPr lang="tr-TR" sz="3200"/>
              <a:t>Example</a:t>
            </a:r>
            <a:endParaRPr lang="tr-TR" sz="3200" dirty="0"/>
          </a:p>
        </p:txBody>
      </p:sp>
      <p:pic>
        <p:nvPicPr>
          <p:cNvPr id="4" name="İçerik Yer Tutucusu 3">
            <a:extLst>
              <a:ext uri="{FF2B5EF4-FFF2-40B4-BE49-F238E27FC236}">
                <a16:creationId xmlns:a16="http://schemas.microsoft.com/office/drawing/2014/main" id="{F2A61478-FDF4-4174-9F5E-B01996F50A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302" y="640080"/>
            <a:ext cx="6877663" cy="5588101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BCB3915-76C7-434B-8971-FBEAFFAA40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6351" y="2121408"/>
            <a:ext cx="3544034" cy="4050792"/>
          </a:xfrm>
        </p:spPr>
        <p:txBody>
          <a:bodyPr>
            <a:normAutofit/>
          </a:bodyPr>
          <a:lstStyle/>
          <a:p>
            <a:r>
              <a:rPr lang="tr-TR" sz="1600"/>
              <a:t>I</a:t>
            </a:r>
            <a:r>
              <a:rPr lang="en-US" sz="1600"/>
              <a:t>f the queue is empty when a thread executing get() wakes up (e.g., because another thread has gotten to get() before it), it will immediately go back to sleep, waiting.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CFC42DC-2C46-47C4-BC61-530557385D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4B91A37-AA1F-4966-8ACF-93023547DA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7B17AC5-0931-432F-9A4A-DDCFAA010A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138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Unvan 1">
            <a:extLst>
              <a:ext uri="{FF2B5EF4-FFF2-40B4-BE49-F238E27FC236}">
                <a16:creationId xmlns:a16="http://schemas.microsoft.com/office/drawing/2014/main" id="{50DB2171-128C-416B-B3B0-AA535F382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en-US" dirty="0"/>
              <a:t>References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53AF18B-B31C-4622-8B6C-9A769785DD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320412"/>
            <a:ext cx="10058400" cy="3851787"/>
          </a:xfrm>
        </p:spPr>
        <p:txBody>
          <a:bodyPr>
            <a:normAutofit/>
          </a:bodyPr>
          <a:lstStyle/>
          <a:p>
            <a:r>
              <a:rPr lang="tr-TR" dirty="0">
                <a:hlinkClick r:id="rId4"/>
              </a:rPr>
              <a:t>https://isocpp.github.io/CppCoreGuidelines/CppCoreGuidelines</a:t>
            </a:r>
            <a:endParaRPr lang="tr-TR" dirty="0"/>
          </a:p>
          <a:p>
            <a:endParaRPr lang="tr-TR" dirty="0"/>
          </a:p>
          <a:p>
            <a:r>
              <a:rPr lang="tr-TR" dirty="0">
                <a:hlinkClick r:id="rId5"/>
              </a:rPr>
              <a:t>https://thispointer.com/c11-multithreading-part-7-condition-variables-explained/</a:t>
            </a:r>
            <a:endParaRPr lang="tr-TR" dirty="0"/>
          </a:p>
          <a:p>
            <a:endParaRPr lang="tr-TR" dirty="0"/>
          </a:p>
          <a:p>
            <a:r>
              <a:rPr lang="tr-TR" dirty="0">
                <a:hlinkClick r:id="rId6"/>
              </a:rPr>
              <a:t>http://www.cplusplus.com/reference/condition_variable/condition_variable/</a:t>
            </a:r>
            <a:endParaRPr lang="tr-TR" dirty="0"/>
          </a:p>
          <a:p>
            <a:endParaRPr lang="tr-TR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7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2183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CFFB95F-D901-4937-8084-8A7BAA84F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6310" y="0"/>
            <a:ext cx="435568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>
            <a:extLst>
              <a:ext uri="{FF2B5EF4-FFF2-40B4-BE49-F238E27FC236}">
                <a16:creationId xmlns:a16="http://schemas.microsoft.com/office/drawing/2014/main" id="{FBBBD025-DB05-4F72-9A55-D7B86EEB0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9777" y="639763"/>
            <a:ext cx="3046073" cy="5177377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sz="4000"/>
              <a:t>Group members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0F473BD-3FD3-4548-A8F5-11D3C9CB8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91E02ED-3E2E-4396-B6DE-5F93F2F11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8F088F5-B4E7-43B9-88F4-8667026E4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aphicFrame>
        <p:nvGraphicFramePr>
          <p:cNvPr id="5" name="İçerik Yer Tutucusu 2">
            <a:extLst>
              <a:ext uri="{FF2B5EF4-FFF2-40B4-BE49-F238E27FC236}">
                <a16:creationId xmlns:a16="http://schemas.microsoft.com/office/drawing/2014/main" id="{CF3BB75F-8E9F-4FA1-B5E3-80E4DE0926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3190534"/>
              </p:ext>
            </p:extLst>
          </p:nvPr>
        </p:nvGraphicFramePr>
        <p:xfrm>
          <a:off x="622300" y="639763"/>
          <a:ext cx="6572250" cy="558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4383677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ahta Yazı">
  <a:themeElements>
    <a:clrScheme name="Tahta Yazı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Tahta Yazı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ahta Yazı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239</Words>
  <Application>Microsoft Office PowerPoint</Application>
  <PresentationFormat>Geniş ekran</PresentationFormat>
  <Paragraphs>29</Paragraphs>
  <Slides>8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8</vt:i4>
      </vt:variant>
    </vt:vector>
  </HeadingPairs>
  <TitlesOfParts>
    <vt:vector size="14" baseType="lpstr">
      <vt:lpstr>Calibri</vt:lpstr>
      <vt:lpstr>Rockwell</vt:lpstr>
      <vt:lpstr>Rockwell Condensed</vt:lpstr>
      <vt:lpstr>Rockwell Extra Bold</vt:lpstr>
      <vt:lpstr>Wingdings</vt:lpstr>
      <vt:lpstr>Tahta Yazı</vt:lpstr>
      <vt:lpstr>Condition variables and using predicates</vt:lpstr>
      <vt:lpstr>Condıtıon varıables</vt:lpstr>
      <vt:lpstr>DON’T WAIT WITHOUT A CONDITION</vt:lpstr>
      <vt:lpstr>Bad – good Examples</vt:lpstr>
      <vt:lpstr>Bad – good Examples</vt:lpstr>
      <vt:lpstr>GOOD Example</vt:lpstr>
      <vt:lpstr>References</vt:lpstr>
      <vt:lpstr>Group members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Condition variables and using predicates</dc:title>
  <dc:creator>Ahmet Yuşa Telli</dc:creator>
  <cp:lastModifiedBy>Ahmet Yuşa Telli</cp:lastModifiedBy>
  <cp:revision>2</cp:revision>
  <dcterms:created xsi:type="dcterms:W3CDTF">2019-12-24T14:20:26Z</dcterms:created>
  <dcterms:modified xsi:type="dcterms:W3CDTF">2019-12-24T14:22:50Z</dcterms:modified>
</cp:coreProperties>
</file>